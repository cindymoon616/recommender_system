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3d41d143d_0_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3d41d143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3d41d143d_0_1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3d41d143d_0_1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3d41d143d_0_1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3d41d143d_0_1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3d41d143d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3d41d143d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3d41d143d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3d41d143d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3d41d143d_0_1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3d41d143d_0_1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3d41d143d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3d41d143d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3d41d143d_0_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3d41d143d_0_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3d41d143d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3d41d143d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3d41d143d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3d41d143d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3d41d143d_0_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3d41d143d_0_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3d41d143d_0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3d41d143d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3d41d143d_0_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3d41d143d_0_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3d41d143d_0_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3d41d143d_0_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3d41d143d_0_1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3d41d143d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3d41d143d_0_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3d41d143d_0_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00">
                <a:solidFill>
                  <a:schemeClr val="tx1"/>
                </a:solidFill>
              </a:rPr>
              <a:t>生成式推荐：走向大模型小词表</a:t>
            </a:r>
            <a:endParaRPr lang="zh-CN" sz="4500">
              <a:solidFill>
                <a:schemeClr val="tx1"/>
              </a:solidFill>
            </a:endParaRPr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tx1"/>
                </a:solidFill>
              </a:rPr>
              <a:t>Heng Chang</a:t>
            </a:r>
            <a:endParaRPr 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推荐的效果增长也服从广义的scaling law</a:t>
            </a:r>
            <a:endParaRPr lang="zh-CN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170125"/>
            <a:ext cx="8839200" cy="3350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推荐场景大模型的计算成本是可覆盖的</a:t>
            </a:r>
            <a:endParaRPr lang="zh-CN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55800" y="1302400"/>
            <a:ext cx="7633201" cy="338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推荐场景大模型的计算成本是可覆盖的</a:t>
            </a:r>
            <a:endParaRPr lang="zh-CN"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68250" y="1300725"/>
            <a:ext cx="7733250" cy="33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什么是生成式推荐</a:t>
            </a:r>
            <a:endParaRPr lang="zh-CN"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549050" y="512525"/>
            <a:ext cx="5228600" cy="228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2952724"/>
            <a:ext cx="8839198" cy="181610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262650" y="13679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在生成式推荐中，使用Causal Transformer的Recsys都可以被称为广义上的生成式推荐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生成式推荐</a:t>
            </a:r>
            <a:r>
              <a:rPr lang="zh-CN"/>
              <a:t>在业界发展迅速</a:t>
            </a:r>
            <a:endParaRPr lang="zh-CN"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170125"/>
            <a:ext cx="8839204" cy="3521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生成式推荐在业界发展迅速</a:t>
            </a:r>
            <a:endParaRPr lang="zh-CN"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90150" y="1418775"/>
            <a:ext cx="7841123" cy="307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生成式精排解决的问题</a:t>
            </a:r>
            <a:endParaRPr lang="zh-CN"/>
          </a:p>
        </p:txBody>
      </p:sp>
      <p:sp>
        <p:nvSpPr>
          <p:cNvPr id="99" name="Google Shape;99;p20"/>
          <p:cNvSpPr txBox="1"/>
          <p:nvPr>
            <p:ph type="body" idx="1"/>
          </p:nvPr>
        </p:nvSpPr>
        <p:spPr>
          <a:xfrm>
            <a:off x="1131775" y="3960025"/>
            <a:ext cx="2483700" cy="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/>
              <a:t>传统推荐：特征不同，网络结构建模不同，不可避免有信息损失</a:t>
            </a:r>
            <a:endParaRPr sz="1000"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05875" y="1764625"/>
            <a:ext cx="3535500" cy="209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670500" y="2206424"/>
            <a:ext cx="4014125" cy="132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>
            <p:ph type="body" idx="1"/>
          </p:nvPr>
        </p:nvSpPr>
        <p:spPr>
          <a:xfrm>
            <a:off x="5435713" y="3960025"/>
            <a:ext cx="2483700" cy="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/>
              <a:t>生成式</a:t>
            </a:r>
            <a:r>
              <a:rPr lang="zh-CN" sz="1000"/>
              <a:t>推荐</a:t>
            </a:r>
            <a:r>
              <a:rPr lang="zh-CN" sz="1000"/>
              <a:t>：多序列分别建模延伸到全序列建模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生成式召回解决的问题</a:t>
            </a:r>
            <a:endParaRPr lang="zh-CN"/>
          </a:p>
        </p:txBody>
      </p:sp>
      <p:sp>
        <p:nvSpPr>
          <p:cNvPr id="108" name="Google Shape;108;p21"/>
          <p:cNvSpPr txBox="1"/>
          <p:nvPr>
            <p:ph type="body" idx="1"/>
          </p:nvPr>
        </p:nvSpPr>
        <p:spPr>
          <a:xfrm>
            <a:off x="311700" y="1152475"/>
            <a:ext cx="8520600" cy="7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000"/>
              <a:buFont typeface="Arial" panose="020B0604020202020204"/>
              <a:buNone/>
            </a:pPr>
            <a:r>
              <a:rPr lang="zh-CN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在大模型的范式下，如何去对物品做index/tokenize？-- 引入semantic id</a:t>
            </a:r>
            <a:endParaRPr sz="16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相似的item应该有重叠的语义id，同时SemID短，表示空间大，效率更高</a:t>
            </a:r>
            <a:endParaRPr lang="zh-CN" sz="16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944150" y="2081025"/>
            <a:ext cx="2986629" cy="28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902650" y="2216175"/>
            <a:ext cx="3041500" cy="26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52400" y="2098675"/>
            <a:ext cx="2597850" cy="2890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生成式精排</a:t>
            </a:r>
            <a:endParaRPr lang="zh-CN"/>
          </a:p>
        </p:txBody>
      </p:sp>
      <p:sp>
        <p:nvSpPr>
          <p:cNvPr id="117" name="Google Shape;117;p22"/>
          <p:cNvSpPr txBox="1"/>
          <p:nvPr>
            <p:ph type="body" idx="1"/>
          </p:nvPr>
        </p:nvSpPr>
        <p:spPr>
          <a:xfrm>
            <a:off x="311700" y="1152475"/>
            <a:ext cx="8520600" cy="8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</a:rPr>
              <a:t>通过数据和模型scaling law，深入挖掘用户潜在兴趣和长期未被满足需求，为每个用户生成高度个性化的推荐内容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21500" y="2363075"/>
            <a:ext cx="3211974" cy="219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633025" y="2309012"/>
            <a:ext cx="3579375" cy="22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>
            <p:ph type="body" idx="1"/>
          </p:nvPr>
        </p:nvSpPr>
        <p:spPr>
          <a:xfrm>
            <a:off x="1085625" y="4553350"/>
            <a:ext cx="2483700" cy="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/>
              <a:t>HSTU，Meta</a:t>
            </a:r>
            <a:endParaRPr sz="1000"/>
          </a:p>
        </p:txBody>
      </p:sp>
      <p:sp>
        <p:nvSpPr>
          <p:cNvPr id="121" name="Google Shape;121;p22"/>
          <p:cNvSpPr txBox="1"/>
          <p:nvPr>
            <p:ph type="body" idx="1"/>
          </p:nvPr>
        </p:nvSpPr>
        <p:spPr>
          <a:xfrm>
            <a:off x="5180863" y="4607425"/>
            <a:ext cx="2483700" cy="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/>
              <a:t>Longer</a:t>
            </a:r>
            <a:r>
              <a:rPr lang="zh-CN" sz="1000"/>
              <a:t>，</a:t>
            </a:r>
            <a:r>
              <a:rPr lang="zh-CN" sz="1000"/>
              <a:t>字节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生成式召回</a:t>
            </a:r>
            <a:endParaRPr lang="zh-CN"/>
          </a:p>
        </p:txBody>
      </p:sp>
      <p:sp>
        <p:nvSpPr>
          <p:cNvPr id="127" name="Google Shape;127;p23"/>
          <p:cNvSpPr txBox="1"/>
          <p:nvPr>
            <p:ph type="body" idx="1"/>
          </p:nvPr>
        </p:nvSpPr>
        <p:spPr>
          <a:xfrm>
            <a:off x="311700" y="1152475"/>
            <a:ext cx="8520600" cy="14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sz="1200">
                <a:solidFill>
                  <a:schemeClr val="dk1"/>
                </a:solidFill>
              </a:rPr>
              <a:t>高效语义理解与匹配，探索将不同领域的多模态数据等进行融合编码，提升内容相似度，实现跨域的推荐创新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186475" y="1858000"/>
            <a:ext cx="2981392" cy="221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>
            <p:ph type="body" idx="1"/>
          </p:nvPr>
        </p:nvSpPr>
        <p:spPr>
          <a:xfrm>
            <a:off x="5435325" y="4334475"/>
            <a:ext cx="2483700" cy="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/>
              <a:t>FORGE</a:t>
            </a:r>
            <a:r>
              <a:rPr lang="zh-CN" sz="1000"/>
              <a:t>，</a:t>
            </a:r>
            <a:r>
              <a:rPr lang="zh-CN" sz="1000"/>
              <a:t>阿里</a:t>
            </a:r>
            <a:endParaRPr sz="1000"/>
          </a:p>
        </p:txBody>
      </p:sp>
      <p:sp>
        <p:nvSpPr>
          <p:cNvPr id="130" name="Google Shape;130;p23"/>
          <p:cNvSpPr txBox="1"/>
          <p:nvPr>
            <p:ph type="body" idx="1"/>
          </p:nvPr>
        </p:nvSpPr>
        <p:spPr>
          <a:xfrm>
            <a:off x="1024250" y="4629950"/>
            <a:ext cx="2483700" cy="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/>
              <a:t>TIGER</a:t>
            </a:r>
            <a:r>
              <a:rPr lang="zh-CN" sz="1000"/>
              <a:t>，</a:t>
            </a:r>
            <a:r>
              <a:rPr lang="zh-CN" sz="1000"/>
              <a:t>谷歌</a:t>
            </a:r>
            <a:endParaRPr sz="1000"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11700" y="2891212"/>
            <a:ext cx="4654301" cy="14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22500" y="1661875"/>
            <a:ext cx="2785450" cy="13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召排一体OneRec</a:t>
            </a:r>
            <a:endParaRPr lang="zh-CN"/>
          </a:p>
        </p:txBody>
      </p:sp>
      <p:sp>
        <p:nvSpPr>
          <p:cNvPr id="138" name="Google Shape;138;p24"/>
          <p:cNvSpPr txBox="1"/>
          <p:nvPr>
            <p:ph type="body" idx="1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sz="1200">
                <a:solidFill>
                  <a:schemeClr val="dk1"/>
                </a:solidFill>
              </a:rPr>
              <a:t>打破传统召回和排序分离的架构模式，以一个统一的生成式模型实现召回和排序的一体化操作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34725" y="2238388"/>
            <a:ext cx="4327274" cy="17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>
            <p:ph type="body" idx="1"/>
          </p:nvPr>
        </p:nvSpPr>
        <p:spPr>
          <a:xfrm>
            <a:off x="5699600" y="4236000"/>
            <a:ext cx="2483700" cy="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/>
              <a:t>GPR</a:t>
            </a:r>
            <a:r>
              <a:rPr lang="zh-CN" sz="1000"/>
              <a:t>，</a:t>
            </a:r>
            <a:r>
              <a:rPr lang="zh-CN" sz="1000"/>
              <a:t>腾讯</a:t>
            </a:r>
            <a:endParaRPr sz="1000"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47850" y="1969075"/>
            <a:ext cx="3967118" cy="22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 txBox="1"/>
          <p:nvPr>
            <p:ph type="body" idx="1"/>
          </p:nvPr>
        </p:nvSpPr>
        <p:spPr>
          <a:xfrm>
            <a:off x="1189563" y="4322750"/>
            <a:ext cx="2483700" cy="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000"/>
              <a:t>OneRec</a:t>
            </a:r>
            <a:r>
              <a:rPr lang="zh-CN" sz="1000"/>
              <a:t>，</a:t>
            </a:r>
            <a:r>
              <a:rPr lang="zh-CN" sz="1000"/>
              <a:t>快手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生成式精排实践：HPGR</a:t>
            </a:r>
            <a:endParaRPr lang="zh-CN"/>
          </a:p>
        </p:txBody>
      </p:sp>
      <p:sp>
        <p:nvSpPr>
          <p:cNvPr id="148" name="Google Shape;148;p25"/>
          <p:cNvSpPr txBox="1"/>
          <p:nvPr>
            <p:ph type="body" idx="1"/>
          </p:nvPr>
        </p:nvSpPr>
        <p:spPr>
          <a:xfrm>
            <a:off x="311700" y="1152475"/>
            <a:ext cx="8520600" cy="12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9000"/>
              <a:buFont typeface="Arial" panose="020B0604020202020204"/>
              <a:buNone/>
            </a:pPr>
            <a:r>
              <a:rPr lang="zh-CN" sz="1400" b="1">
                <a:solidFill>
                  <a:schemeClr val="dk1"/>
                </a:solidFill>
              </a:rPr>
              <a:t>背景</a:t>
            </a:r>
            <a:r>
              <a:rPr lang="zh-CN" sz="1400">
                <a:solidFill>
                  <a:schemeClr val="dk1"/>
                </a:solidFill>
              </a:rPr>
              <a:t>：长序列中用户兴趣丰富，仅item-level的单目标训练任务无法准确捕捉用户的兴趣；在训练数据中长历史序列拼接增加生成式推荐训练时长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9000"/>
              <a:buFont typeface="Arial" panose="020B0604020202020204"/>
              <a:buNone/>
            </a:pPr>
            <a:r>
              <a:rPr lang="zh-CN" sz="1400" b="1">
                <a:solidFill>
                  <a:schemeClr val="dk1"/>
                </a:solidFill>
              </a:rPr>
              <a:t>解决方案</a:t>
            </a:r>
            <a:r>
              <a:rPr lang="zh-CN" sz="1400">
                <a:solidFill>
                  <a:schemeClr val="dk1"/>
                </a:solidFill>
              </a:rPr>
              <a:t>：1）通过</a:t>
            </a:r>
            <a:r>
              <a:rPr lang="zh-CN" sz="1400" b="1">
                <a:solidFill>
                  <a:schemeClr val="dk1"/>
                </a:solidFill>
              </a:rPr>
              <a:t>以检索为目标的精排预训练任务</a:t>
            </a:r>
            <a:r>
              <a:rPr lang="zh-CN" sz="1400">
                <a:solidFill>
                  <a:schemeClr val="dk1"/>
                </a:solidFill>
              </a:rPr>
              <a:t>，融合session-level的信息，筛选与任务最相关的TopK历史行为对item embedding进行预训练；2）二阶段生成式训练微调训练时，</a:t>
            </a:r>
            <a:r>
              <a:rPr lang="zh-CN" sz="1400" b="1">
                <a:solidFill>
                  <a:schemeClr val="dk1"/>
                </a:solidFill>
              </a:rPr>
              <a:t>仅拼接TopK历史行为</a:t>
            </a:r>
            <a:r>
              <a:rPr lang="zh-CN" sz="1400">
                <a:solidFill>
                  <a:schemeClr val="dk1"/>
                </a:solidFill>
              </a:rPr>
              <a:t>，显著减少历史序列长度，提升训练效率。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400" b="1">
                <a:solidFill>
                  <a:schemeClr val="dk1"/>
                </a:solidFill>
              </a:rPr>
              <a:t>当前效果</a:t>
            </a:r>
            <a:r>
              <a:rPr lang="zh-CN" sz="1400">
                <a:solidFill>
                  <a:schemeClr val="dk1"/>
                </a:solidFill>
              </a:rPr>
              <a:t>：AG数据集上</a:t>
            </a:r>
            <a:r>
              <a:rPr lang="zh-CN" sz="1400" b="1">
                <a:solidFill>
                  <a:schemeClr val="dk1"/>
                </a:solidFill>
              </a:rPr>
              <a:t>离线AUC提升1.5%</a:t>
            </a:r>
            <a:r>
              <a:rPr lang="zh-CN" sz="1400">
                <a:solidFill>
                  <a:schemeClr val="dk1"/>
                </a:solidFill>
              </a:rPr>
              <a:t>，在线热搜榜单eCPM </a:t>
            </a:r>
            <a:r>
              <a:rPr lang="zh-CN" sz="1400" b="1">
                <a:solidFill>
                  <a:schemeClr val="dk1"/>
                </a:solidFill>
              </a:rPr>
              <a:t>+0.79%</a:t>
            </a:r>
            <a:endParaRPr lang="zh-CN" sz="1400" b="1">
              <a:solidFill>
                <a:schemeClr val="dk1"/>
              </a:solidFill>
            </a:endParaRPr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2525575"/>
            <a:ext cx="2506789" cy="24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811589" y="2525575"/>
            <a:ext cx="3665443" cy="24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477025" y="2933537"/>
            <a:ext cx="2562475" cy="16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生成式召回实践：TONE</a:t>
            </a:r>
            <a:endParaRPr lang="zh-CN"/>
          </a:p>
        </p:txBody>
      </p:sp>
      <p:sp>
        <p:nvSpPr>
          <p:cNvPr id="157" name="Google Shape;157;p26"/>
          <p:cNvSpPr txBox="1"/>
          <p:nvPr>
            <p:ph type="body" idx="1"/>
          </p:nvPr>
        </p:nvSpPr>
        <p:spPr>
          <a:xfrm>
            <a:off x="311700" y="1152475"/>
            <a:ext cx="8520600" cy="12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9000"/>
              <a:buFont typeface="Arial" panose="020B0604020202020204"/>
              <a:buNone/>
            </a:pPr>
            <a:r>
              <a:rPr lang="zh-CN" sz="1400" b="1">
                <a:solidFill>
                  <a:schemeClr val="dk1"/>
                </a:solidFill>
              </a:rPr>
              <a:t>背景</a:t>
            </a:r>
            <a:r>
              <a:rPr lang="zh-CN" sz="1400">
                <a:solidFill>
                  <a:schemeClr val="dk1"/>
                </a:solidFill>
              </a:rPr>
              <a:t>：基于RQ-VAE的语义ID生成存在码本利用率低的问题，同时语义ID序列较长，易受序列中的噪声干扰；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9000"/>
              <a:buFont typeface="Arial" panose="020B0604020202020204"/>
              <a:buNone/>
            </a:pPr>
            <a:r>
              <a:rPr lang="zh-CN" sz="1400" b="1">
                <a:solidFill>
                  <a:schemeClr val="dk1"/>
                </a:solidFill>
              </a:rPr>
              <a:t>解决方案</a:t>
            </a:r>
            <a:r>
              <a:rPr lang="zh-CN" sz="1400">
                <a:solidFill>
                  <a:schemeClr val="dk1"/>
                </a:solidFill>
              </a:rPr>
              <a:t>：1）一阶段利用</a:t>
            </a:r>
            <a:r>
              <a:rPr lang="zh-CN" sz="1400" b="1">
                <a:solidFill>
                  <a:schemeClr val="dk1"/>
                </a:solidFill>
              </a:rPr>
              <a:t>RQ-Kmeans</a:t>
            </a:r>
            <a:r>
              <a:rPr lang="zh-CN" sz="1400">
                <a:solidFill>
                  <a:schemeClr val="dk1"/>
                </a:solidFill>
              </a:rPr>
              <a:t>的方法，结合</a:t>
            </a:r>
            <a:r>
              <a:rPr lang="zh-CN" sz="1400" b="1">
                <a:solidFill>
                  <a:schemeClr val="dk1"/>
                </a:solidFill>
              </a:rPr>
              <a:t>高斯去噪</a:t>
            </a:r>
            <a:r>
              <a:rPr lang="zh-CN" sz="1400">
                <a:solidFill>
                  <a:schemeClr val="dk1"/>
                </a:solidFill>
              </a:rPr>
              <a:t>减少item语义间的噪声重合度，提升码本利用率的同时training-free，有利于增量更新；2）二阶段利用</a:t>
            </a:r>
            <a:r>
              <a:rPr lang="zh-CN" sz="1400" b="1">
                <a:solidFill>
                  <a:schemeClr val="dk1"/>
                </a:solidFill>
              </a:rPr>
              <a:t>低频滤波</a:t>
            </a:r>
            <a:r>
              <a:rPr lang="zh-CN" sz="1400">
                <a:solidFill>
                  <a:schemeClr val="dk1"/>
                </a:solidFill>
              </a:rPr>
              <a:t>保留语义ID序列中有效信息，结合</a:t>
            </a:r>
            <a:r>
              <a:rPr lang="zh-CN" sz="1400" b="1">
                <a:solidFill>
                  <a:schemeClr val="dk1"/>
                </a:solidFill>
              </a:rPr>
              <a:t>可学习秩提升矩阵</a:t>
            </a:r>
            <a:r>
              <a:rPr lang="zh-CN" sz="1400">
                <a:solidFill>
                  <a:schemeClr val="dk1"/>
                </a:solidFill>
              </a:rPr>
              <a:t>增强模型表达能力。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>
                <a:solidFill>
                  <a:schemeClr val="dk1"/>
                </a:solidFill>
              </a:rPr>
              <a:t>当前效果</a:t>
            </a:r>
            <a:r>
              <a:rPr lang="zh-CN" sz="1400">
                <a:solidFill>
                  <a:schemeClr val="dk1"/>
                </a:solidFill>
              </a:rPr>
              <a:t>：亚马逊公开数据集上召回指标</a:t>
            </a:r>
            <a:r>
              <a:rPr lang="zh-CN" sz="1400" b="1">
                <a:solidFill>
                  <a:schemeClr val="dk1"/>
                </a:solidFill>
              </a:rPr>
              <a:t>平均提升4%</a:t>
            </a:r>
            <a:r>
              <a:rPr lang="zh-CN" sz="1400">
                <a:solidFill>
                  <a:schemeClr val="dk1"/>
                </a:solidFill>
              </a:rPr>
              <a:t>。</a:t>
            </a:r>
            <a:endParaRPr lang="zh-CN" sz="1400">
              <a:solidFill>
                <a:schemeClr val="dk1"/>
              </a:solidFill>
            </a:endParaRPr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24500" y="2373175"/>
            <a:ext cx="3204769" cy="24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428850" y="1979700"/>
            <a:ext cx="4002424" cy="199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66374" y="3973325"/>
            <a:ext cx="3727400" cy="11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生成式召回实践：CAR</a:t>
            </a:r>
            <a:endParaRPr lang="zh-CN"/>
          </a:p>
        </p:txBody>
      </p:sp>
      <p:sp>
        <p:nvSpPr>
          <p:cNvPr id="166" name="Google Shape;166;p27"/>
          <p:cNvSpPr txBox="1"/>
          <p:nvPr>
            <p:ph type="body" idx="1"/>
          </p:nvPr>
        </p:nvSpPr>
        <p:spPr>
          <a:xfrm>
            <a:off x="311700" y="1152475"/>
            <a:ext cx="8520600" cy="13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>
                <a:solidFill>
                  <a:schemeClr val="dk1"/>
                </a:solidFill>
              </a:rPr>
              <a:t>背景</a:t>
            </a:r>
            <a:r>
              <a:rPr lang="zh-CN" sz="1050">
                <a:solidFill>
                  <a:schemeClr val="dk1"/>
                </a:solidFill>
              </a:rPr>
              <a:t>：</a:t>
            </a:r>
            <a:r>
              <a:rPr lang="zh-CN" sz="1050">
                <a:solidFill>
                  <a:schemeClr val="dk1"/>
                </a:solidFill>
              </a:rPr>
              <a:t>语义ID来源中的语义信息并不总是与协同信息一致，属性相似的物品，可能是热门物品，也可能是冷门物品</a:t>
            </a:r>
            <a:r>
              <a:rPr lang="zh-CN" sz="1050">
                <a:solidFill>
                  <a:schemeClr val="dk1"/>
                </a:solidFill>
              </a:rPr>
              <a:t>；</a:t>
            </a:r>
            <a:endParaRPr sz="10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>
                <a:solidFill>
                  <a:schemeClr val="dk1"/>
                </a:solidFill>
              </a:rPr>
              <a:t>解决方案</a:t>
            </a:r>
            <a:r>
              <a:rPr lang="zh-CN" sz="1050">
                <a:solidFill>
                  <a:schemeClr val="dk1"/>
                </a:solidFill>
              </a:rPr>
              <a:t>：1）</a:t>
            </a:r>
            <a:r>
              <a:rPr lang="zh-CN" sz="1050" b="1">
                <a:solidFill>
                  <a:schemeClr val="dk1"/>
                </a:solidFill>
              </a:rPr>
              <a:t>Token + ID</a:t>
            </a:r>
            <a:r>
              <a:rPr lang="zh-CN" sz="1050">
                <a:solidFill>
                  <a:schemeClr val="dk1"/>
                </a:solidFill>
              </a:rPr>
              <a:t>：语义Token与ID穿插建模item，既有层次化的语义信息，也有唯一对应的ID表征协同信息</a:t>
            </a:r>
            <a:r>
              <a:rPr lang="zh-CN" sz="1050">
                <a:solidFill>
                  <a:schemeClr val="dk1"/>
                </a:solidFill>
              </a:rPr>
              <a:t>；2）</a:t>
            </a:r>
            <a:r>
              <a:rPr lang="zh-CN" sz="1050" b="1">
                <a:solidFill>
                  <a:schemeClr val="dk1"/>
                </a:solidFill>
              </a:rPr>
              <a:t>N-gram嵌入</a:t>
            </a:r>
            <a:r>
              <a:rPr lang="zh-CN" sz="1050">
                <a:solidFill>
                  <a:schemeClr val="dk1"/>
                </a:solidFill>
              </a:rPr>
              <a:t>：同一个item的语义token和ID总是共现，借鉴n-gram的思想增强语义token和ID的表征；3</a:t>
            </a:r>
            <a:r>
              <a:rPr lang="zh-CN" sz="1050">
                <a:solidFill>
                  <a:schemeClr val="dk1"/>
                </a:solidFill>
              </a:rPr>
              <a:t>）MTP：语义token预测ID较为困难，借鉴MTP的思想增添预测头，同步进行ID预测语义token，ID预测ID。由于ID可以直接预测ID，推理时的解码长度为1，解码速度快。</a:t>
            </a:r>
            <a:endParaRPr sz="10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>
                <a:solidFill>
                  <a:schemeClr val="dk1"/>
                </a:solidFill>
              </a:rPr>
              <a:t>当前效果</a:t>
            </a:r>
            <a:r>
              <a:rPr lang="zh-CN" sz="1050">
                <a:solidFill>
                  <a:schemeClr val="dk1"/>
                </a:solidFill>
              </a:rPr>
              <a:t>：亚马逊公开数据集上召回指标</a:t>
            </a:r>
            <a:r>
              <a:rPr lang="zh-CN" sz="1050" b="1">
                <a:solidFill>
                  <a:schemeClr val="dk1"/>
                </a:solidFill>
              </a:rPr>
              <a:t>提升 7.93% 到 22.30%</a:t>
            </a:r>
            <a:endParaRPr sz="1050"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11700" y="2838225"/>
            <a:ext cx="2943250" cy="16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328941" y="2453887"/>
            <a:ext cx="3252358" cy="244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581300" y="2663137"/>
            <a:ext cx="2517051" cy="95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936474" y="3877425"/>
            <a:ext cx="1806700" cy="7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总结</a:t>
            </a:r>
            <a:endParaRPr lang="zh-CN"/>
          </a:p>
        </p:txBody>
      </p:sp>
      <p:sp>
        <p:nvSpPr>
          <p:cNvPr id="176" name="Google Shape;176;p2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微软雅黑" panose="020B0503020204020204" charset="-122"/>
              <a:buAutoNum type="arabicPeriod"/>
            </a:pPr>
            <a:r>
              <a:rPr lang="zh-CN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GR优势在于全序列建模单序列，当前受限于工程协同优化难以无限扩张，DLRM+GR的融合成为主流，长期看GR模式替代整个推荐系统存在可能</a:t>
            </a:r>
            <a:endParaRPr sz="16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微软雅黑" panose="020B0503020204020204" charset="-122"/>
              <a:buAutoNum type="arabicPeriod"/>
            </a:pPr>
            <a:r>
              <a:rPr lang="zh-CN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广泛复用基础模型架构Transformer在语言领域的建模思路，探索Scaling Law在搜推广领域的上限，当前最大生成式推荐模型做到10B量级（例如快手-8B）；</a:t>
            </a:r>
            <a:endParaRPr sz="16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微软雅黑" panose="020B0503020204020204" charset="-122"/>
              <a:buAutoNum type="arabicPeriod"/>
            </a:pPr>
            <a:r>
              <a:rPr lang="zh-CN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对用户搜推广行为序列做更细粒度的建模，模型输入序列做到2K~10K量级（例如字节）；</a:t>
            </a:r>
            <a:endParaRPr sz="16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微软雅黑" panose="020B0503020204020204" charset="-122"/>
              <a:buAutoNum type="arabicPeriod"/>
            </a:pPr>
            <a:r>
              <a:rPr lang="zh-CN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基于预训练大语言模型持续训练/后训练范式逐渐在工业界开始得到收益（快手基于Qwen-8B/谷歌基于Gemini）</a:t>
            </a:r>
            <a:endParaRPr sz="16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微软雅黑" panose="020B0503020204020204" charset="-122"/>
              <a:buAutoNum type="arabicPeriod"/>
            </a:pPr>
            <a:r>
              <a:rPr lang="zh-CN" sz="16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模型的训练/推理与大语言模型在技术路线层面逐渐走向融合，MFU会持续提升（传统推荐MFU 1%左右，大语言模型MFU 可以大于40%）</a:t>
            </a:r>
            <a:endParaRPr sz="16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Thanks！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1627</Words>
  <Application>WPS 演示</Application>
  <PresentationFormat/>
  <Paragraphs>84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Arial Unicode MS</vt:lpstr>
      <vt:lpstr>Simple Light</vt:lpstr>
      <vt:lpstr>生成式推荐：走向大模型小词表</vt:lpstr>
      <vt:lpstr>推荐的效果增长也服从广义的scaling law</vt:lpstr>
      <vt:lpstr>推荐场景大模型的计算成本是可覆盖的</vt:lpstr>
      <vt:lpstr>推荐场景大模型的计算成本是可覆盖的</vt:lpstr>
      <vt:lpstr>什么是生成式推荐</vt:lpstr>
      <vt:lpstr>生成式推荐在业界发展迅速</vt:lpstr>
      <vt:lpstr>生成式推荐在业界发展迅速</vt:lpstr>
      <vt:lpstr>生成式精排解决的问题</vt:lpstr>
      <vt:lpstr>生成式召回解决的问题</vt:lpstr>
      <vt:lpstr>生成式精排</vt:lpstr>
      <vt:lpstr>生成式召回</vt:lpstr>
      <vt:lpstr>召排一体OneRec</vt:lpstr>
      <vt:lpstr>生成式精排实践：HPGR</vt:lpstr>
      <vt:lpstr>生成式召回实践：TONE</vt:lpstr>
      <vt:lpstr>生成式召回实践：CAR</vt:lpstr>
      <vt:lpstr>总结</vt:lpstr>
      <vt:lpstr>Thanks！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生成式推荐：走向大模型小词表</dc:title>
  <dc:creator/>
  <cp:lastModifiedBy>等着花儿冬眠</cp:lastModifiedBy>
  <cp:revision>1</cp:revision>
  <dcterms:created xsi:type="dcterms:W3CDTF">2026-04-01T11:25:11Z</dcterms:created>
  <dcterms:modified xsi:type="dcterms:W3CDTF">2026-04-01T11:25:11Z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0E852E09E4E346B39AA4F620E6318227_12</vt:lpwstr>
  </property>
  <property fmtid="{D5CDD505-2E9C-101B-9397-08002B2CF9AE}" pid="3" name="KSOProductBuildVer">
    <vt:lpwstr>2052-12.1.0.25225</vt:lpwstr>
  </property>
</Properties>
</file>